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all know that a great morning sets the tone for a productive workday. Today, I am excited to introduce Sunrise Bakery's new corporate breakfast delivery service, designed to fuel your team with fresh, high-quality food right when they arrive at the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 at the heart of everything we do. Our bakers arrive well before sunrise to craft artisanal breads and delicate pastries using locally sourced ingredients, ensuring your team gets that irresistible bakery-fresh 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 food deserves great coffee. We provide locally roasted specialty coffee delivered hot in easy-pour insulated boxes, complete with your choice of regular milk and popular plant-based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understand that office sizes and schedules fluctuate. That's why we offer flexible weekly subscription plans that you can easily pause, scale, or customize through our online portal to accommodate dietary needs and remote work schedules.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so confident your team will love our breakfast that we want you to try it completely free. Sign up today for a zero-obligation, five-day trial week and experience the Sunrise Bakery difference firsthand.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Ready to transform your office mornings? Visit our website or grab a card from me today to set up your free trial week for next Monday. Let's make breakfast the best part of your team's workday.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p:bgPr>
    </p:bg>
    <p:spTree>
      <p:nvGrpSpPr>
        <p:cNvPr id="1" name=""/>
        <p:cNvGrpSpPr/>
        <p:nvPr/>
      </p:nvGrpSpPr>
      <p:grpSpPr>
        <a:xfrm>
          <a:off x="0" y="0"/>
          <a:ext cx="0" cy="0"/>
          <a:chOff x="0" y="0"/>
          <a:chExt cx="0" cy="0"/>
        </a:xfrm>
      </p:grpSpPr>
      <p:sp>
        <p:nvSpPr>
          <p:cNvPr id="2" name="Text 0"/>
          <p:cNvSpPr/>
          <p:nvPr/>
        </p:nvSpPr>
        <p:spPr>
          <a:xfrm>
            <a:off x="548640" y="2011680"/>
            <a:ext cx="8046720" cy="1097280"/>
          </a:xfrm>
          <a:prstGeom prst="rect">
            <a:avLst/>
          </a:prstGeom>
          <a:noFill/>
          <a:ln/>
        </p:spPr>
        <p:txBody>
          <a:bodyPr wrap="square" rtlCol="0" anchor="ctr"/>
          <a:lstStyle/>
          <a:p>
            <a:pPr indent="0" marL="0">
              <a:buNone/>
            </a:pPr>
            <a:r>
              <a:rPr lang="en-US" sz="3200" b="1" dirty="0">
                <a:solidFill>
                  <a:srgbClr val="EDEAE0"/>
                </a:solidFill>
                <a:latin typeface="Arial" pitchFamily="34" charset="0"/>
                <a:ea typeface="Arial" pitchFamily="34" charset="-122"/>
                <a:cs typeface="Arial" pitchFamily="34" charset="-120"/>
              </a:rPr>
              <a:t>Sunrise Bakery Corporate Breakfast Delivery</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8229600" cy="731520"/>
          </a:xfrm>
          <a:prstGeom prst="rect">
            <a:avLst/>
          </a:prstGeom>
          <a:noFill/>
          <a:ln/>
        </p:spPr>
        <p:txBody>
          <a:bodyPr wrap="square" rtlCol="0" anchor="ctr"/>
          <a:lstStyle/>
          <a:p>
            <a:pPr indent="0" marL="0">
              <a:buNone/>
            </a:pPr>
            <a:r>
              <a:rPr lang="en-US" sz="2400" b="1" dirty="0">
                <a:solidFill>
                  <a:srgbClr val="0E2A47"/>
                </a:solidFill>
                <a:latin typeface="Arial" pitchFamily="34" charset="0"/>
                <a:ea typeface="Arial" pitchFamily="34" charset="-122"/>
                <a:cs typeface="Arial" pitchFamily="34" charset="-120"/>
              </a:rPr>
              <a:t>Start Your Team's Day Right</a:t>
            </a:r>
            <a:endParaRPr lang="en-US" sz="2400" dirty="0"/>
          </a:p>
        </p:txBody>
      </p:sp>
      <p:sp>
        <p:nvSpPr>
          <p:cNvPr id="4" name="Text 1"/>
          <p:cNvSpPr/>
          <p:nvPr/>
        </p:nvSpPr>
        <p:spPr>
          <a:xfrm>
            <a:off x="548640" y="1280160"/>
            <a:ext cx="7863840" cy="3474720"/>
          </a:xfrm>
          <a:prstGeom prst="rect">
            <a:avLst/>
          </a:prstGeom>
          <a:noFill/>
          <a:ln/>
        </p:spPr>
        <p:txBody>
          <a:bodyPr wrap="square" rtlCol="0" anchor="ctr"/>
          <a:lstStyle/>
          <a:p>
            <a:pPr marL="342900" indent="-342900">
              <a:buSzPct val="100000"/>
              <a:buChar char="•"/>
            </a:pPr>
            <a:r>
              <a:rPr lang="en-US" sz="1600" dirty="0">
                <a:solidFill>
                  <a:srgbClr val="16202B"/>
                </a:solidFill>
                <a:latin typeface="Arial" pitchFamily="34" charset="0"/>
                <a:ea typeface="Arial" pitchFamily="34" charset="-122"/>
                <a:cs typeface="Arial" pitchFamily="34" charset="-120"/>
              </a:rPr>
              <a:t>Freshly baked goods delivered straight to your office</a:t>
            </a:r>
            <a:endParaRPr lang="en-US" sz="1600" dirty="0"/>
          </a:p>
          <a:p>
            <a:pPr marL="342900" indent="-342900">
              <a:buSzPct val="100000"/>
              <a:buChar char="•"/>
            </a:pPr>
            <a:r>
              <a:rPr lang="en-US" sz="1600" dirty="0">
                <a:solidFill>
                  <a:srgbClr val="16202B"/>
                </a:solidFill>
                <a:latin typeface="Arial" pitchFamily="34" charset="0"/>
                <a:ea typeface="Arial" pitchFamily="34" charset="-122"/>
                <a:cs typeface="Arial" pitchFamily="34" charset="-120"/>
              </a:rPr>
              <a:t>Guaranteed arrival by 8:00 AM every morning</a:t>
            </a:r>
            <a:endParaRPr lang="en-US" sz="1600" dirty="0"/>
          </a:p>
          <a:p>
            <a:pPr marL="342900" indent="-342900">
              <a:buSzPct val="100000"/>
              <a:buChar char="•"/>
            </a:pPr>
            <a:r>
              <a:rPr lang="en-US" sz="1600" dirty="0">
                <a:solidFill>
                  <a:srgbClr val="16202B"/>
                </a:solidFill>
                <a:latin typeface="Arial" pitchFamily="34" charset="0"/>
                <a:ea typeface="Arial" pitchFamily="34" charset="-122"/>
                <a:cs typeface="Arial" pitchFamily="34" charset="-120"/>
              </a:rPr>
              <a:t>Boost team morale and morning productivity effortlessly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8229600" cy="731520"/>
          </a:xfrm>
          <a:prstGeom prst="rect">
            <a:avLst/>
          </a:prstGeom>
          <a:noFill/>
          <a:ln/>
        </p:spPr>
        <p:txBody>
          <a:bodyPr wrap="square" rtlCol="0" anchor="ctr"/>
          <a:lstStyle/>
          <a:p>
            <a:pPr indent="0" marL="0">
              <a:buNone/>
            </a:pPr>
            <a:r>
              <a:rPr lang="en-US" sz="2400" b="1" dirty="0">
                <a:solidFill>
                  <a:srgbClr val="0E2A47"/>
                </a:solidFill>
                <a:latin typeface="Arial" pitchFamily="34" charset="0"/>
                <a:ea typeface="Arial" pitchFamily="34" charset="-122"/>
                <a:cs typeface="Arial" pitchFamily="34" charset="-120"/>
              </a:rPr>
              <a:t>Artisanal Bread &amp; Pastries</a:t>
            </a:r>
            <a:endParaRPr lang="en-US" sz="2400" dirty="0"/>
          </a:p>
        </p:txBody>
      </p:sp>
      <p:sp>
        <p:nvSpPr>
          <p:cNvPr id="4" name="Text 1"/>
          <p:cNvSpPr/>
          <p:nvPr/>
        </p:nvSpPr>
        <p:spPr>
          <a:xfrm>
            <a:off x="548640" y="1280160"/>
            <a:ext cx="7863840" cy="3474720"/>
          </a:xfrm>
          <a:prstGeom prst="rect">
            <a:avLst/>
          </a:prstGeom>
          <a:noFill/>
          <a:ln/>
        </p:spPr>
        <p:txBody>
          <a:bodyPr wrap="square" rtlCol="0" anchor="ctr"/>
          <a:lstStyle/>
          <a:p>
            <a:pPr marL="342900" indent="-342900">
              <a:buSzPct val="100000"/>
              <a:buChar char="•"/>
            </a:pPr>
            <a:r>
              <a:rPr lang="en-US" sz="1600" dirty="0">
                <a:solidFill>
                  <a:srgbClr val="16202B"/>
                </a:solidFill>
                <a:latin typeface="Arial" pitchFamily="34" charset="0"/>
                <a:ea typeface="Arial" pitchFamily="34" charset="-122"/>
                <a:cs typeface="Arial" pitchFamily="34" charset="-120"/>
              </a:rPr>
              <a:t>Sourdough, brioche, and rustic loaves baked at dawn</a:t>
            </a:r>
            <a:endParaRPr lang="en-US" sz="1600" dirty="0"/>
          </a:p>
          <a:p>
            <a:pPr marL="342900" indent="-342900">
              <a:buSzPct val="100000"/>
              <a:buChar char="•"/>
            </a:pPr>
            <a:r>
              <a:rPr lang="en-US" sz="1600" dirty="0">
                <a:solidFill>
                  <a:srgbClr val="16202B"/>
                </a:solidFill>
                <a:latin typeface="Arial" pitchFamily="34" charset="0"/>
                <a:ea typeface="Arial" pitchFamily="34" charset="-122"/>
                <a:cs typeface="Arial" pitchFamily="34" charset="-120"/>
              </a:rPr>
              <a:t>Flaky butter croissants, Daniels, and seasonal fruit tarts</a:t>
            </a:r>
            <a:endParaRPr lang="en-US" sz="1600" dirty="0"/>
          </a:p>
          <a:p>
            <a:pPr marL="342900" indent="-342900">
              <a:buSzPct val="100000"/>
              <a:buChar char="•"/>
            </a:pPr>
            <a:r>
              <a:rPr lang="en-US" sz="1600" dirty="0">
                <a:solidFill>
                  <a:srgbClr val="16202B"/>
                </a:solidFill>
                <a:latin typeface="Arial" pitchFamily="34" charset="0"/>
                <a:ea typeface="Arial" pitchFamily="34" charset="-122"/>
                <a:cs typeface="Arial" pitchFamily="34" charset="-120"/>
              </a:rPr>
              <a:t>Locally sourced ingredients with zero artificial preservatives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8229600" cy="731520"/>
          </a:xfrm>
          <a:prstGeom prst="rect">
            <a:avLst/>
          </a:prstGeom>
          <a:noFill/>
          <a:ln/>
        </p:spPr>
        <p:txBody>
          <a:bodyPr wrap="square" rtlCol="0" anchor="ctr"/>
          <a:lstStyle/>
          <a:p>
            <a:pPr indent="0" marL="0">
              <a:buNone/>
            </a:pPr>
            <a:r>
              <a:rPr lang="en-US" sz="2400" b="1" dirty="0">
                <a:solidFill>
                  <a:srgbClr val="0E2A47"/>
                </a:solidFill>
                <a:latin typeface="Arial" pitchFamily="34" charset="0"/>
                <a:ea typeface="Arial" pitchFamily="34" charset="-122"/>
                <a:cs typeface="Arial" pitchFamily="34" charset="-120"/>
              </a:rPr>
              <a:t>Specialty Coffee Solutions</a:t>
            </a:r>
            <a:endParaRPr lang="en-US" sz="2400" dirty="0"/>
          </a:p>
        </p:txBody>
      </p:sp>
      <p:sp>
        <p:nvSpPr>
          <p:cNvPr id="4" name="Text 1"/>
          <p:cNvSpPr/>
          <p:nvPr/>
        </p:nvSpPr>
        <p:spPr>
          <a:xfrm>
            <a:off x="548640" y="1280160"/>
            <a:ext cx="7863840" cy="3474720"/>
          </a:xfrm>
          <a:prstGeom prst="rect">
            <a:avLst/>
          </a:prstGeom>
          <a:noFill/>
          <a:ln/>
        </p:spPr>
        <p:txBody>
          <a:bodyPr wrap="square" rtlCol="0" anchor="ctr"/>
          <a:lstStyle/>
          <a:p>
            <a:pPr marL="342900" indent="-342900">
              <a:buSzPct val="100000"/>
              <a:buChar char="•"/>
            </a:pPr>
            <a:r>
              <a:rPr lang="en-US" sz="1600" dirty="0">
                <a:solidFill>
                  <a:srgbClr val="16202B"/>
                </a:solidFill>
                <a:latin typeface="Arial" pitchFamily="34" charset="0"/>
                <a:ea typeface="Arial" pitchFamily="34" charset="-122"/>
                <a:cs typeface="Arial" pitchFamily="34" charset="-120"/>
              </a:rPr>
              <a:t>Locally roasted, specialty-grade coffee beans</a:t>
            </a:r>
            <a:endParaRPr lang="en-US" sz="1600" dirty="0"/>
          </a:p>
          <a:p>
            <a:pPr marL="342900" indent="-342900">
              <a:buSzPct val="100000"/>
              <a:buChar char="•"/>
            </a:pPr>
            <a:r>
              <a:rPr lang="en-US" sz="1600" dirty="0">
                <a:solidFill>
                  <a:srgbClr val="16202B"/>
                </a:solidFill>
                <a:latin typeface="Arial" pitchFamily="34" charset="0"/>
                <a:ea typeface="Arial" pitchFamily="34" charset="-122"/>
                <a:cs typeface="Arial" pitchFamily="34" charset="-120"/>
              </a:rPr>
              <a:t>Convenient insulated caros for easy office sharing</a:t>
            </a:r>
            <a:endParaRPr lang="en-US" sz="1600" dirty="0"/>
          </a:p>
          <a:p>
            <a:pPr marL="342900" indent="-342900">
              <a:buSzPct val="100000"/>
              <a:buChar char="•"/>
            </a:pPr>
            <a:r>
              <a:rPr lang="en-US" sz="1600" dirty="0">
                <a:solidFill>
                  <a:srgbClr val="16202B"/>
                </a:solidFill>
                <a:latin typeface="Arial" pitchFamily="34" charset="0"/>
                <a:ea typeface="Arial" pitchFamily="34" charset="-122"/>
                <a:cs typeface="Arial" pitchFamily="34" charset="-120"/>
              </a:rPr>
              <a:t>Complete setup including dairy and plant-based milks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8229600" cy="731520"/>
          </a:xfrm>
          <a:prstGeom prst="rect">
            <a:avLst/>
          </a:prstGeom>
          <a:noFill/>
          <a:ln/>
        </p:spPr>
        <p:txBody>
          <a:bodyPr wrap="square" rtlCol="0" anchor="ctr"/>
          <a:lstStyle/>
          <a:p>
            <a:pPr indent="0" marL="0">
              <a:buNone/>
            </a:pPr>
            <a:r>
              <a:rPr lang="en-US" sz="2400" b="1" dirty="0">
                <a:solidFill>
                  <a:srgbClr val="0E2A47"/>
                </a:solidFill>
                <a:latin typeface="Arial" pitchFamily="34" charset="0"/>
                <a:ea typeface="Arial" pitchFamily="34" charset="-122"/>
                <a:cs typeface="Arial" pitchFamily="34" charset="-120"/>
              </a:rPr>
              <a:t>Flexible Weekly Plans</a:t>
            </a:r>
            <a:endParaRPr lang="en-US" sz="2400" dirty="0"/>
          </a:p>
        </p:txBody>
      </p:sp>
      <p:sp>
        <p:nvSpPr>
          <p:cNvPr id="4" name="Text 1"/>
          <p:cNvSpPr/>
          <p:nvPr/>
        </p:nvSpPr>
        <p:spPr>
          <a:xfrm>
            <a:off x="548640" y="1280160"/>
            <a:ext cx="7863840" cy="3474720"/>
          </a:xfrm>
          <a:prstGeom prst="rect">
            <a:avLst/>
          </a:prstGeom>
          <a:noFill/>
          <a:ln/>
        </p:spPr>
        <p:txBody>
          <a:bodyPr wrap="square" rtlCol="0" anchor="ctr"/>
          <a:lstStyle/>
          <a:p>
            <a:pPr marL="342900" indent="-342900">
              <a:buSzPct val="100000"/>
              <a:buChar char="•"/>
            </a:pPr>
            <a:r>
              <a:rPr lang="en-US" sz="1600" dirty="0">
                <a:solidFill>
                  <a:srgbClr val="16202B"/>
                </a:solidFill>
                <a:latin typeface="Arial" pitchFamily="34" charset="0"/>
                <a:ea typeface="Arial" pitchFamily="34" charset="-122"/>
                <a:cs typeface="Arial" pitchFamily="34" charset="-120"/>
              </a:rPr>
              <a:t>Tailored schedules: 2, 3, or 5 days a week</a:t>
            </a:r>
            <a:endParaRPr lang="en-US" sz="1600" dirty="0"/>
          </a:p>
          <a:p>
            <a:pPr marL="342900" indent="-342900">
              <a:buSzPct val="100000"/>
              <a:buChar char="•"/>
            </a:pPr>
            <a:r>
              <a:rPr lang="en-US" sz="1600" dirty="0">
                <a:solidFill>
                  <a:srgbClr val="16202B"/>
                </a:solidFill>
                <a:latin typeface="Arial" pitchFamily="34" charset="0"/>
                <a:ea typeface="Arial" pitchFamily="34" charset="-122"/>
                <a:cs typeface="Arial" pitchFamily="34" charset="-120"/>
              </a:rPr>
              <a:t>Easy online portal to adjust headcounts on the fly</a:t>
            </a:r>
            <a:endParaRPr lang="en-US" sz="1600" dirty="0"/>
          </a:p>
          <a:p>
            <a:pPr marL="342900" indent="-342900">
              <a:buSzPct val="100000"/>
              <a:buChar char="•"/>
            </a:pPr>
            <a:r>
              <a:rPr lang="en-US" sz="1600" dirty="0">
                <a:solidFill>
                  <a:srgbClr val="16202B"/>
                </a:solidFill>
                <a:latin typeface="Arial" pitchFamily="34" charset="0"/>
                <a:ea typeface="Arial" pitchFamily="34" charset="-122"/>
                <a:cs typeface="Arial" pitchFamily="34" charset="-120"/>
              </a:rPr>
              <a:t>Dietary accommodations for gluten-free and vegan needs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8229600" cy="731520"/>
          </a:xfrm>
          <a:prstGeom prst="rect">
            <a:avLst/>
          </a:prstGeom>
          <a:noFill/>
          <a:ln/>
        </p:spPr>
        <p:txBody>
          <a:bodyPr wrap="square" rtlCol="0" anchor="ctr"/>
          <a:lstStyle/>
          <a:p>
            <a:pPr indent="0" marL="0">
              <a:buNone/>
            </a:pPr>
            <a:r>
              <a:rPr lang="en-US" sz="2400" b="1" dirty="0">
                <a:solidFill>
                  <a:srgbClr val="0E2A47"/>
                </a:solidFill>
                <a:latin typeface="Arial" pitchFamily="34" charset="0"/>
                <a:ea typeface="Arial" pitchFamily="34" charset="-122"/>
                <a:cs typeface="Arial" pitchFamily="34" charset="-120"/>
              </a:rPr>
              <a:t>Exclusive Free Trial Week</a:t>
            </a:r>
            <a:endParaRPr lang="en-US" sz="2400" dirty="0"/>
          </a:p>
        </p:txBody>
      </p:sp>
      <p:sp>
        <p:nvSpPr>
          <p:cNvPr id="4" name="Text 1"/>
          <p:cNvSpPr/>
          <p:nvPr/>
        </p:nvSpPr>
        <p:spPr>
          <a:xfrm>
            <a:off x="548640" y="1280160"/>
            <a:ext cx="7863840" cy="3474720"/>
          </a:xfrm>
          <a:prstGeom prst="rect">
            <a:avLst/>
          </a:prstGeom>
          <a:noFill/>
          <a:ln/>
        </p:spPr>
        <p:txBody>
          <a:bodyPr wrap="square" rtlCol="0" anchor="ctr"/>
          <a:lstStyle/>
          <a:p>
            <a:pPr marL="342900" indent="-342900">
              <a:buSzPct val="100000"/>
              <a:buChar char="•"/>
            </a:pPr>
            <a:r>
              <a:rPr lang="en-US" sz="1600" dirty="0">
                <a:solidFill>
                  <a:srgbClr val="16202B"/>
                </a:solidFill>
                <a:latin typeface="Arial" pitchFamily="34" charset="0"/>
                <a:ea typeface="Arial" pitchFamily="34" charset="-122"/>
                <a:cs typeface="Arial" pitchFamily="34" charset="-120"/>
              </a:rPr>
              <a:t>Zero-obligation, completely free breakfast delivery for 5 days</a:t>
            </a:r>
            <a:endParaRPr lang="en-US" sz="1600" dirty="0"/>
          </a:p>
          <a:p>
            <a:pPr marL="342900" indent="-342900">
              <a:buSzPct val="100000"/>
              <a:buChar char="•"/>
            </a:pPr>
            <a:r>
              <a:rPr lang="en-US" sz="1600" dirty="0">
                <a:solidFill>
                  <a:srgbClr val="16202B"/>
                </a:solidFill>
                <a:latin typeface="Arial" pitchFamily="34" charset="0"/>
                <a:ea typeface="Arial" pitchFamily="34" charset="-122"/>
                <a:cs typeface="Arial" pitchFamily="34" charset="-120"/>
              </a:rPr>
              <a:t>Sample our top pastries, breads, and signature coffee</a:t>
            </a:r>
            <a:endParaRPr lang="en-US" sz="1600" dirty="0"/>
          </a:p>
          <a:p>
            <a:pPr marL="342900" indent="-342900">
              <a:buSzPct val="100000"/>
              <a:buChar char="•"/>
            </a:pPr>
            <a:r>
              <a:rPr lang="en-US" sz="1600" dirty="0">
                <a:solidFill>
                  <a:srgbClr val="16202B"/>
                </a:solidFill>
                <a:latin typeface="Arial" pitchFamily="34" charset="0"/>
                <a:ea typeface="Arial" pitchFamily="34" charset="-122"/>
                <a:cs typeface="Arial" pitchFamily="34" charset="-120"/>
              </a:rPr>
              <a:t>Experience our punctuality and quality firsthand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365760"/>
            <a:ext cx="8229600" cy="731520"/>
          </a:xfrm>
          <a:prstGeom prst="rect">
            <a:avLst/>
          </a:prstGeom>
          <a:noFill/>
          <a:ln/>
        </p:spPr>
        <p:txBody>
          <a:bodyPr wrap="square" rtlCol="0" anchor="ctr"/>
          <a:lstStyle/>
          <a:p>
            <a:pPr indent="0" marL="0">
              <a:buNone/>
            </a:pPr>
            <a:r>
              <a:rPr lang="en-US" sz="2400" b="1" dirty="0">
                <a:solidFill>
                  <a:srgbClr val="0E2A47"/>
                </a:solidFill>
                <a:latin typeface="Arial" pitchFamily="34" charset="0"/>
                <a:ea typeface="Arial" pitchFamily="34" charset="-122"/>
                <a:cs typeface="Arial" pitchFamily="34" charset="-120"/>
              </a:rPr>
              <a:t>Let’s Fuel Your Morning</a:t>
            </a:r>
            <a:endParaRPr lang="en-US" sz="2400" dirty="0"/>
          </a:p>
        </p:txBody>
      </p:sp>
      <p:sp>
        <p:nvSpPr>
          <p:cNvPr id="4" name="Text 1"/>
          <p:cNvSpPr/>
          <p:nvPr/>
        </p:nvSpPr>
        <p:spPr>
          <a:xfrm>
            <a:off x="548640" y="1280160"/>
            <a:ext cx="7863840" cy="3474720"/>
          </a:xfrm>
          <a:prstGeom prst="rect">
            <a:avLst/>
          </a:prstGeom>
          <a:noFill/>
          <a:ln/>
        </p:spPr>
        <p:txBody>
          <a:bodyPr wrap="square" rtlCol="0" anchor="ctr"/>
          <a:lstStyle/>
          <a:p>
            <a:pPr marL="342900" indent="-342900">
              <a:buSzPct val="100000"/>
              <a:buChar char="•"/>
            </a:pPr>
            <a:r>
              <a:rPr lang="en-US" sz="1600" dirty="0">
                <a:solidFill>
                  <a:srgbClr val="16202B"/>
                </a:solidFill>
                <a:latin typeface="Arial" pitchFamily="34" charset="0"/>
                <a:ea typeface="Arial" pitchFamily="34" charset="-122"/>
                <a:cs typeface="Arial" pitchFamily="34" charset="-120"/>
              </a:rPr>
              <a:t>Claim your free trial week starting this Monday</a:t>
            </a:r>
            <a:endParaRPr lang="en-US" sz="1600" dirty="0"/>
          </a:p>
          <a:p>
            <a:pPr marL="342900" indent="-342900">
              <a:buSzPct val="100000"/>
              <a:buChar char="•"/>
            </a:pPr>
            <a:r>
              <a:rPr lang="en-US" sz="1600" dirty="0">
                <a:solidFill>
                  <a:srgbClr val="16202B"/>
                </a:solidFill>
                <a:latin typeface="Arial" pitchFamily="34" charset="0"/>
                <a:ea typeface="Arial" pitchFamily="34" charset="-122"/>
                <a:cs typeface="Arial" pitchFamily="34" charset="-120"/>
              </a:rPr>
              <a:t>Visit sunrisebakery.com/corporate to sign up in 2 minutes</a:t>
            </a:r>
            <a:endParaRPr lang="en-US" sz="1600" dirty="0"/>
          </a:p>
          <a:p>
            <a:pPr marL="342900" indent="-342900">
              <a:buSzPct val="100000"/>
              <a:buChar char="•"/>
            </a:pPr>
            <a:r>
              <a:rPr lang="en-US" sz="1600" dirty="0">
                <a:solidFill>
                  <a:srgbClr val="16202B"/>
                </a:solidFill>
                <a:latin typeface="Arial" pitchFamily="34" charset="0"/>
                <a:ea typeface="Arial" pitchFamily="34" charset="-122"/>
                <a:cs typeface="Arial" pitchFamily="34" charset="-120"/>
              </a:rPr>
              <a:t>Contact our corporate concierge for custom orders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2026-09-24T02:43:18Z</dcterms:created>
  <dcterms:modified xsi:type="dcterms:W3CDTF">2026-09-24T02:43:18Z</dcterms:modified>
</cp:coreProperties>
</file>